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</p:sldIdLst>
  <p:sldSz cx="12191695" cy="6858000" type="custom"/>
  <p:notesSz cx="6858000" cy="12191695"/>
</p:presentation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Theme1" Type="http://schemas.openxmlformats.org/officeDocument/2006/relationships/theme" Target="theme/theme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</Relationships>
</file>

<file path=ppt/charts/_rels/chart1.xml.rels><?xml version="1.0" encoding="UTF-8" standalone="yes"?>
<Relationships xmlns="http://schemas.openxmlformats.org/package/2006/relationships">
</Relationships>
</file>

<file path=ppt/charts/_rels/chart2.xml.rels><?xml version="1.0" encoding="UTF-8" standalone="yes"?>
<Relationships xmlns="http://schemas.openxmlformats.org/package/2006/relationships"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lang="en-US" sz="1400" b="0"/>
              <a:t>Quarterly Revenue by Region (in millions)</a:t>
            </a:r>
          </a:p>
        </c:rich>
      </c:tx>
      <c:overlay val="0"/>
    </c:title>
    <c:autoTitleDeleted val="0"/>
    <c:plotArea>
      <c:layout/>
      <c:col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0.89</c:v>
                </c:pt>
                <c:pt idx="2">
                  <c:v>0.65</c:v>
                </c:pt>
                <c:pt idx="3">
                  <c:v>0.32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1.35</c:v>
                </c:pt>
                <c:pt idx="1">
                  <c:v>0.92</c:v>
                </c:pt>
                <c:pt idx="2">
                  <c:v>0.78</c:v>
                </c:pt>
                <c:pt idx="3">
                  <c:v>0.38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1.42</c:v>
                </c:pt>
                <c:pt idx="1">
                  <c:v>1.05</c:v>
                </c:pt>
                <c:pt idx="2">
                  <c:v>0.92</c:v>
                </c:pt>
                <c:pt idx="3">
                  <c:v>0.41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9DC3E6"/>
            </a:solidFill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1.58</c:v>
                </c:pt>
                <c:pt idx="1">
                  <c:v>1.18</c:v>
                </c:pt>
                <c:pt idx="2">
                  <c:v>1.1</c:v>
                </c:pt>
                <c:pt idx="3">
                  <c:v>0.49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111111"/>
        <c:axId val="222222222"/>
      </c:col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lang="en-US" sz="1400" b="0"/>
              <a:t>Q4 Revenue by Product (in millions)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Widget Pro</c:v>
                </c:pt>
                <c:pt idx="1">
                  <c:v>Widget Basic</c:v>
                </c:pt>
                <c:pt idx="2">
                  <c:v>Widget Enterprise</c:v>
                </c:pt>
                <c:pt idx="3">
                  <c:v>Accessories Pack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2.25</c:v>
                </c:pt>
                <c:pt idx="1">
                  <c:v>1.64</c:v>
                </c:pt>
                <c:pt idx="2">
                  <c:v>1.8</c:v>
                </c:pt>
                <c:pt idx="3">
                  <c:v>0.65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</c:plotArea>
    <c:legend>
      <c:legendPos val="b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0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hart1" Type="http://schemas.openxmlformats.org/officeDocument/2006/relationships/chart" Target="../charts/char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hart1" Type="http://schemas.openxmlformats.org/officeDocument/2006/relationships/chart" Target="../charts/char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4400" b="1" i="0" u="none" dirty="0">
                <a:solidFill>
                  <a:srgbClr val="1F3864"/>
                </a:solidFill>
                <a:latin typeface="Calibri"/>
                <a:cs typeface="Calibri"/>
              </a:rPr>
              <a:t>Acme Corp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3200" b="0" i="0" u="none" dirty="0">
                <a:solidFill>
                  <a:srgbClr val="1F3864"/>
                </a:solidFill>
                <a:latin typeface="Calibri"/>
                <a:cs typeface="Calibri"/>
              </a:rPr>
              <a:t>Q4 2025 Sales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3200" b="1" i="0" u="none" dirty="0">
                <a:solidFill>
                  <a:srgbClr val="1F3864"/>
                </a:solidFill>
                <a:latin typeface="Calibri"/>
                <a:cs typeface="Calibri"/>
              </a:rPr>
              <a:t>Key Metrics</a:t>
            </a:r>
          </a:p>
        </p:txBody>
      </p:sp>
      <p:sp>
        <p:nvSpPr>
          <p:cNvPr id="4" name="Shape 4"/>
          <p:cNvSpPr/>
          <p:nvPr/>
        </p:nvSpPr>
        <p:spPr>
          <a:xfrm>
            <a:off x="685800" y="1600200"/>
            <a:ext cx="2468880" cy="20116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 wrap="square" anchor="ctr" rtlCol="0"/>
          <a:lstStyle/>
          <a:p>
            <a:pPr algn="ctr"/>
            <a:r>
              <a:rPr lang="en-US" sz="2000" dirty="0">
                <a:solidFill>
                  <a:srgbClr val="FFFFFF"/>
                </a:solidFill>
              </a:rPr>
              <a:t>$5.35M
Total Revenue</a:t>
            </a:r>
          </a:p>
        </p:txBody>
      </p:sp>
      <p:sp>
        <p:nvSpPr>
          <p:cNvPr id="5" name="Shape 5"/>
          <p:cNvSpPr/>
          <p:nvPr/>
        </p:nvSpPr>
        <p:spPr>
          <a:xfrm>
            <a:off x="3383280" y="1600200"/>
            <a:ext cx="2468880" cy="20116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anchor="ctr" rtlCol="0"/>
          <a:lstStyle/>
          <a:p>
            <a:pPr algn="ctr"/>
            <a:r>
              <a:rPr lang="en-US" sz="2000" dirty="0">
                <a:solidFill>
                  <a:srgbClr val="FFFFFF"/>
                </a:solidFill>
              </a:rPr>
              <a:t>+22%
YoY Growth</a:t>
            </a:r>
          </a:p>
        </p:txBody>
      </p:sp>
      <p:sp>
        <p:nvSpPr>
          <p:cNvPr id="6" name="Shape 6"/>
          <p:cNvSpPr/>
          <p:nvPr/>
        </p:nvSpPr>
        <p:spPr>
          <a:xfrm>
            <a:off x="6080760" y="1600200"/>
            <a:ext cx="2468880" cy="201168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txBody>
          <a:bodyPr wrap="square" anchor="ctr" rtlCol="0"/>
          <a:lstStyle/>
          <a:p>
            <a:pPr algn="ctr"/>
            <a:r>
              <a:rPr lang="en-US" sz="2000" dirty="0">
                <a:solidFill>
                  <a:srgbClr val="FFFFFF"/>
                </a:solidFill>
              </a:rPr>
              <a:t>1,847
New Customers</a:t>
            </a:r>
          </a:p>
        </p:txBody>
      </p:sp>
      <p:sp>
        <p:nvSpPr>
          <p:cNvPr id="7" name="Shape 7"/>
          <p:cNvSpPr/>
          <p:nvPr/>
        </p:nvSpPr>
        <p:spPr>
          <a:xfrm>
            <a:off x="8778240" y="1600200"/>
            <a:ext cx="2468880" cy="2011680"/>
          </a:xfrm>
          <a:prstGeom prst="roundRect">
            <a:avLst/>
          </a:prstGeom>
          <a:solidFill>
            <a:srgbClr val="9DC3E6"/>
          </a:solidFill>
          <a:ln>
            <a:noFill/>
          </a:ln>
        </p:spPr>
        <p:txBody>
          <a:bodyPr wrap="square" anchor="ctr" rtlCol="0"/>
          <a:lstStyle/>
          <a:p>
            <a:pPr algn="ctr"/>
            <a:r>
              <a:rPr lang="en-US" sz="2000" dirty="0">
                <a:solidFill>
                  <a:srgbClr val="1F4E79"/>
                </a:solidFill>
              </a:rPr>
              <a:t>94%
Retention Rate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4114800"/>
            <a:ext cx="10817352" cy="1371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1800" b="0" i="0" u="none" dirty="0">
                <a:solidFill>
                  <a:srgbClr val="1F3864"/>
                </a:solidFill>
                <a:latin typeface="Calibri"/>
                <a:cs typeface="Calibri"/>
              </a:rPr>
              <a:t>Q4 2025 delivered strong results across all key performance indicators, with significant year-over-year growth and excellent customer retention.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3200" b="1" i="0" u="none" dirty="0">
                <a:solidFill>
                  <a:srgbClr val="1F3864"/>
                </a:solidFill>
                <a:latin typeface="Calibri"/>
                <a:cs typeface="Calibri"/>
              </a:rPr>
              <a:t>Revenue by Region</a:t>
            </a:r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1371600" y="1600200"/>
          <a:ext cx="9445752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l">
              <a:buNone/>
            </a:pPr>
            <a:r>
              <a:rPr lang="en-US" sz="3200" b="1" i="0" u="none" dirty="0">
                <a:solidFill>
                  <a:srgbClr val="1F3864"/>
                </a:solidFill>
                <a:latin typeface="Calibri"/>
                <a:cs typeface="Calibri"/>
              </a:rPr>
              <a:t>Top Products Performance</a:t>
            </a:r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685800" y="1463040"/>
          <a:ext cx="5029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1"/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172200" y="1463040"/>
          <a:ext cx="5330952" cy="4114800"/>
        </p:xfrm>
        <a:graphic>
          <a:graphicData uri="http://schemas.openxmlformats.org/drawingml/2006/table">
            <a:tbl>
              <a:tblPr firstRow="1" bandRow="1">
                <a:tblStyle val="{5C22544A-7EE6-4342-B048-85BDC9FD1C3A}"/>
              </a:tblPr>
              <a:tblGrid>
                <a:gridCol w="1776984"/>
                <a:gridCol w="1776984"/>
                <a:gridCol w="1776984"/>
              </a:tblGrid>
              <a:tr h="82296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>
                    <a:solidFill>
                      <a:srgbClr val="1F3864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>
                    <a:solidFill>
                      <a:srgbClr val="1F3864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1F3864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Calibri"/>
                        </a:rPr>
                        <a:t>Widget Pro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Calibri"/>
                        </a:rPr>
                        <a:t>45,000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Calibri"/>
                        </a:rPr>
                        <a:t>+23%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Calibri"/>
                        </a:rPr>
                        <a:t>Widget Basic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Calibri"/>
                        </a:rPr>
                        <a:t>82,000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Calibri"/>
                        </a:rPr>
                        <a:t>+15%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Calibri"/>
                        </a:rPr>
                        <a:t>Widget Enterprise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Calibri"/>
                        </a:rPr>
                        <a:t>+31%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Calibri"/>
                        </a:rPr>
                        <a:t>Accessories Pack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Calibri"/>
                        </a:rPr>
                        <a:t>65,000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33"/>
                          </a:solidFill>
                          <a:latin typeface="Calibri"/>
                        </a:rPr>
                        <a:t>+8%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1F3864"/>
                      </a:solidFill>
                    </a:lnL>
                    <a:lnR w="12700">
                      <a:solidFill>
                        <a:srgbClr val="1F3864"/>
                      </a:solidFill>
                    </a:lnR>
                    <a:lnT w="12700">
                      <a:solidFill>
                        <a:srgbClr val="1F3864"/>
                      </a:solidFill>
                    </a:lnT>
                    <a:lnB w="12700">
                      <a:solidFill>
                        <a:srgbClr val="1F3864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4000" b="1" i="0" u="none" dirty="0">
                <a:solidFill>
                  <a:srgbClr val="1F3864"/>
                </a:solidFill>
                <a:latin typeface="Calibri"/>
                <a:cs typeface="Calibri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noFill/>
        </p:spPr>
        <p:txBody>
          <a:bodyPr wrap="square" anchor="t" rtlCol="0"/>
          <a:lstStyle/>
          <a:p>
            <a:pPr algn="ctr">
              <a:buNone/>
            </a:pPr>
            <a:r>
              <a:rPr lang="en-US" sz="2400" b="0" i="0" u="none" dirty="0">
                <a:solidFill>
                  <a:srgbClr val="1F3864"/>
                </a:solidFill>
                <a:latin typeface="Calibri"/>
                <a:cs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orate">
  <a:themeElements>
    <a:clrScheme name="Corporate">
      <a:dk1>
        <a:srgbClr val="1F3864"/>
      </a:dk1>
      <a:lt1>
        <a:srgbClr val="FFFFFF"/>
      </a:lt1>
      <a:dk2>
        <a:srgbClr val="1F3864"/>
      </a:dk2>
      <a:lt2>
        <a:srgbClr val="E7E6E6"/>
      </a:lt2>
      <a:accent1>
        <a:srgbClr val="1F3864"/>
      </a:accent1>
      <a:accent2>
        <a:srgbClr val="2E75B6"/>
      </a:accent2>
      <a:accent3>
        <a:srgbClr val="BDD7EE"/>
      </a:accent3>
      <a:accent4>
        <a:srgbClr val="9DC3E6"/>
      </a:accent4>
      <a:accent5>
        <a:srgbClr val="2E75B6"/>
      </a:accent5>
      <a:accent6>
        <a:srgbClr val="1F3864"/>
      </a:accent6>
      <a:hlink>
        <a:srgbClr val="1F3864"/>
      </a:hlink>
      <a:folHlink>
        <a:srgbClr val="2E75B6"/>
      </a:folHlink>
    </a:clrScheme>
    <a:fontScheme name="Corporate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Corpor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Q4 2025 Sales Report</dc:title>
  <dc:creator>Osaurus Presentation Plugin</dc:creator>
  <dcterms:created xsi:type="dcterms:W3CDTF">2026-02-10T22:49:54Z</dcterms:created>
  <dcterms:modified xsi:type="dcterms:W3CDTF">2026-02-10T22:49:54Z</dcterms:modified>
</cp:coreProperties>
</file>